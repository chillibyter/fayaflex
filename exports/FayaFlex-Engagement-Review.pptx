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45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FAYAFLEX  ·  APP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>
                <a:solidFill>
                  <a:srgbClr val="FAFAFA"/>
                </a:solidFill>
                <a:latin typeface="Calibri"/>
              </a:rPr>
              <a:t>Engagement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A1A1AA"/>
                </a:solidFill>
                <a:latin typeface="Calibri"/>
              </a:rPr>
              <a:t>Six months of growth, where the curve bent, and what to ship next.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Calibri"/>
              </a:rPr>
              <a:t>Production read replica · May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Engagement &amp; App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Six months in, FayaFlex is finding product-market fit with a small but unusually engaged base.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9090B"/>
                </a:solidFill>
                <a:latin typeface="Calibri"/>
              </a:rPr>
              <a:t>•  1,282 activities logged across 41 users — average of 31 activities per user, with one user active every single day for the last 30.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9090B"/>
                </a:solidFill>
                <a:latin typeface="Calibri"/>
              </a:rPr>
              <a:t>•  April was a clear inflection: monthly active users jumped from 6 → 16 (+167%) and activities tripled from 151 → 437.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9090B"/>
                </a:solidFill>
                <a:latin typeface="Calibri"/>
              </a:rPr>
              <a:t>•  56% of users have joined a team (23 of 41) — the social loop is the strongest driver of repeat engagement.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9090B"/>
                </a:solidFill>
                <a:latin typeface="Calibri"/>
              </a:rPr>
              <a:t>•  Auto-posted workouts feature shipped in March is working: 2 → 40 → 27 posts/month; the team feed is becoming the spine of the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9090B"/>
                </a:solidFill>
                <a:latin typeface="Calibri"/>
              </a:rPr>
              <a:t>•  Two big gaps to close: zero reactions or comments on posts (the engagement is one-way), and a soft month-2 retention cliff for cohorts that don't land in a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Source: production read replica · May 15,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Engagement &amp; App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Where we are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Topline platform metrics, current totals.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697480" cy="15544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7627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1717A"/>
                </a:solidFill>
                <a:latin typeface="Calibri"/>
              </a:rPr>
              <a:t>TOTAL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146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+14 in last 30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011680"/>
            <a:ext cx="2697480" cy="15544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01168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7627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1717A"/>
                </a:solidFill>
                <a:latin typeface="Calibri"/>
              </a:rPr>
              <a:t>ACTIVITIES LOGGED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1,282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1546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Lifetime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011680"/>
            <a:ext cx="2697480" cy="15544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011680"/>
            <a:ext cx="2697480" cy="64008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217627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1717A"/>
                </a:solidFill>
                <a:latin typeface="Calibri"/>
              </a:rPr>
              <a:t>MONTHLY ACTIVE (Apr)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146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1546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+167% vs March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011680"/>
            <a:ext cx="2697480" cy="15544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201168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217627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1717A"/>
                </a:solidFill>
                <a:latin typeface="Calibri"/>
              </a:rPr>
              <a:t>AUTO-POSTED WORKOUTS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51460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315468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Last 90 days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49040"/>
            <a:ext cx="2697480" cy="15544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74904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91363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1717A"/>
                </a:solidFill>
                <a:latin typeface="Calibri"/>
              </a:rPr>
              <a:t>USERS ON A TEAM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251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23 / 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892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56% of base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91840" y="3749040"/>
            <a:ext cx="2697480" cy="15544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91840" y="374904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391363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1717A"/>
                </a:solidFill>
                <a:latin typeface="Calibri"/>
              </a:rPr>
              <a:t>DEVICE CONNECTIONS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0" y="4251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892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Apple Health · Garmin · others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3749040"/>
            <a:ext cx="2697480" cy="15544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3749040"/>
            <a:ext cx="2697480" cy="640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91363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1717A"/>
                </a:solidFill>
                <a:latin typeface="Calibri"/>
              </a:rPr>
              <a:t>MONTHLY WINNERS LOGGED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4251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892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Victory Wall is operational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61120" y="3749040"/>
            <a:ext cx="2697480" cy="15544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61120" y="3749040"/>
            <a:ext cx="2697480" cy="640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0" y="391363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1717A"/>
                </a:solidFill>
                <a:latin typeface="Calibri"/>
              </a:rPr>
              <a:t>REACTIONS · COMMENTS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25196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0 · 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89204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Shipped, never used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Source: production read replica · May 15,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Engagement &amp; App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The engagement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April was the inflection point. Activity volume and active users both jumped together.</a:t>
            </a:r>
          </a:p>
        </p:txBody>
      </p:sp>
      <p:pic>
        <p:nvPicPr>
          <p:cNvPr id="6" name="Picture 5" descr="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772400" cy="407344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828800"/>
            <a:ext cx="3246120" cy="228600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828800"/>
            <a:ext cx="73152" cy="2286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99339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What changed in April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377440"/>
            <a:ext cx="288036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Auto-posted workouts went live mid-March.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Four weeks later, both volume and the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distinct-user count jumped — strong signal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that the social-feed loop drives logging.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4206240"/>
            <a:ext cx="3246120" cy="228600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4206240"/>
            <a:ext cx="73152" cy="2286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437083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Why May looks softer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754880"/>
            <a:ext cx="288036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May is mid-month (only 15 of 31 days).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Prorated, May is on track to roughly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match April. Watch the next 2 weeks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before calling a regression.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Source: production read replica · May 15,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Engagement &amp; App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Weekly volume tells a sharper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Two surges in 16 weeks. Both correlate with feature shipping — not seasonality.</a:t>
            </a:r>
          </a:p>
        </p:txBody>
      </p:sp>
      <p:pic>
        <p:nvPicPr>
          <p:cNvPr id="6" name="Picture 5" descr="week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772400" cy="475018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828800"/>
            <a:ext cx="3246120" cy="457200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828800"/>
            <a:ext cx="73152" cy="4572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99339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Reading the weekly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377440"/>
            <a:ext cx="2880360" cy="3886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• The Mar 30 spike (167) lines up with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auto-posted workouts shipping.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• The May 4 surge (118) lines up with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the Workout Calendar dashboard going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live — proving that visibility into your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own history drives logging.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/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• Quiet weeks (Feb–Mar) align with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weeks where no new feature shipped.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Source: production read replica · May 15,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Engagement &amp; App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Signups are uneven — driven by hand-recruited cohorts, not organic discovery.</a:t>
            </a:r>
          </a:p>
        </p:txBody>
      </p:sp>
      <p:pic>
        <p:nvPicPr>
          <p:cNvPr id="6" name="Picture 5" descr="sign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772400" cy="43967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920240"/>
            <a:ext cx="3246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09090B"/>
                </a:solidFill>
                <a:latin typeface="Calibri"/>
              </a:rPr>
              <a:t>•  Two acquisition spikes: Jan (11) and Apr (14).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9090B"/>
                </a:solidFill>
                <a:latin typeface="Calibri"/>
              </a:rPr>
              <a:t>•  Both look like batch invites — not steady organic.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9090B"/>
                </a:solidFill>
                <a:latin typeface="Calibri"/>
              </a:rPr>
              <a:t>•  Avg signup rate the rest of the time: ~3/month.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9090B"/>
                </a:solidFill>
                <a:latin typeface="Calibri"/>
              </a:rPr>
              <a:t>•  No paid acquisition or referral mechanic running yet.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09090B"/>
                </a:solidFill>
                <a:latin typeface="Calibri"/>
              </a:rPr>
              <a:t>•  Strong implication: the app retains better than it discovers.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Source: production read replica · May 15,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Engagement &amp; App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Daily active users — last 30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Average 3.1 DAU. One day a week, traffic spikes — usually weekends.</a:t>
            </a:r>
          </a:p>
        </p:txBody>
      </p:sp>
      <p:pic>
        <p:nvPicPr>
          <p:cNvPr id="6" name="Picture 5" descr="d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772400" cy="477693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828800"/>
            <a:ext cx="3246120" cy="219456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828800"/>
            <a:ext cx="73152" cy="21945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99339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DAU / MAU ratio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377440"/>
            <a:ext cx="28803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DAU avg 3.1 ÷ MAU 16 = 19%.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Healthy fitness apps land 25–35%.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Gap = headroom for re-engagement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nudges, not a structural problem.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4160520"/>
            <a:ext cx="3246120" cy="233172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4160520"/>
            <a:ext cx="73152" cy="2331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432511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Spike pattern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709160"/>
            <a:ext cx="2880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Apr 17 (69 acts), May 5 (58),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May 10 (32) — all weekend or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post-weekend syncs. Most users are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logging in batches when they sit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down to their phone after a workout.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Source: production read replica · May 15,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Engagement &amp; App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Cohort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Joining a team in week 1 is the single best retention signal we have.</a:t>
            </a:r>
          </a:p>
        </p:txBody>
      </p:sp>
      <p:pic>
        <p:nvPicPr>
          <p:cNvPr id="6" name="Picture 5" descr="coh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772400" cy="43967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828800"/>
            <a:ext cx="3246120" cy="219456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828800"/>
            <a:ext cx="73152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99339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What's working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377440"/>
            <a:ext cx="28803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Jan cohort: 6 of 11 returned the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next month — 55%. That's category-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leading retention for fitness apps.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The core loop works for the right user.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4160520"/>
            <a:ext cx="3246120" cy="233172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4160520"/>
            <a:ext cx="73152" cy="23317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432511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What's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709160"/>
            <a:ext cx="2880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Feb cohort retained 0 of 3.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Apr cohort retained 4 of 14 (29%).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The difference: Jan signups were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seeded into existing teams; Feb/Apr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landed as solo users with nobody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to compete against.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Source: production read replica · May 15,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Engagement &amp; App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Power-user concentration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1 user logged every single day. The top 5 users drive most of the volume.</a:t>
            </a:r>
          </a:p>
        </p:txBody>
      </p:sp>
      <p:pic>
        <p:nvPicPr>
          <p:cNvPr id="6" name="Picture 5" descr="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772400" cy="44758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828800"/>
            <a:ext cx="3246120" cy="219456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828800"/>
            <a:ext cx="73152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99339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Power-user law in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377440"/>
            <a:ext cx="28803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Top 5 users alone account for ~75%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of activities in the last 30 days.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Common to social-fitness apps —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they are the gravitational center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of their teams.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4160520"/>
            <a:ext cx="3246120" cy="233172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4160520"/>
            <a:ext cx="73152" cy="2331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432511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Intensity over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709160"/>
            <a:ext cx="2880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Activities per active user/month: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Dec 31  →  Jan 44  →  Feb 17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Mar 25  →  Apr 27  →  May 13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(May still mid-month).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Intensity is steady; growth comes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from adding active users, not from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asking each one to log more.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Source: production read replica · May 15,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Engagement &amp; App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The social-feature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We built reactions and comments. Users haven't touched them. Feed posts are the bright spot.</a:t>
            </a:r>
          </a:p>
        </p:txBody>
      </p:sp>
      <p:pic>
        <p:nvPicPr>
          <p:cNvPr id="6" name="Picture 5" descr="so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7772400" cy="439679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503920" y="1828800"/>
            <a:ext cx="3246120" cy="219456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03920" y="1828800"/>
            <a:ext cx="73152" cy="21945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32520" y="199339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Auto-posted workouts 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2377440"/>
            <a:ext cx="28803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0 → 40 → 27 in three months.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Clear adoption — users are happy to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broadcast workouts when posting is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automatic. The supply side works.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4160520"/>
            <a:ext cx="3246120" cy="233172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0" y="4160520"/>
            <a:ext cx="73152" cy="233172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20" y="432511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Reactions / comments 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709160"/>
            <a:ext cx="288036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Zero reactions. Zero comments.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The demand side doesn't fire.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Likely root cause: users see their own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posts, not their team's. Feed is a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broadcast log, not a conversation —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yet.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Source: production read replica · May 15,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Engagement &amp; App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Six bets, prioritized by expected lift. The first three are 1-sprint 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532120" cy="13258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176272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1. Force teamed onboarding (P0)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Retention data is unambiguous: solo signups churn, teamed signups stay.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Make 'join or create a team' the second screen of onboarding, not optional.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011680"/>
            <a:ext cx="5532120" cy="13258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201168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176272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2. Push the team feed, not the personal feed (P0)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60320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Default Home tab to team activity, not your own. Reactions don't fire because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users never see other people's posts. Same data, different ordering.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5532120" cy="13258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474720"/>
            <a:ext cx="73152" cy="1325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639312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3. Ship Team Stakes — bragging-rights phase (P0)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23360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Streaks + multipliers on top of existing team challenges. ~1 sprint, no new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integrations. Tests the mechanic before investing in sponsor pipeline.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474720"/>
            <a:ext cx="5532120" cy="13258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47472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639312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4. Re-engagement push for users at 3+ days inactive (P1)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23360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Personal nudge ('your team is 4,200 steps ahead — a 35-min walk catches up').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Uses existing push infra. Aim: lift DAU/MAU from 19% → 25%.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37760"/>
            <a:ext cx="5532120" cy="13258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937760"/>
            <a:ext cx="73152" cy="1325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5102352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5. Referral mechanic with team-context (P1)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486400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'Invite a friend to your team and unlock a charity stake' — wraps acquisition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inside the social loop. Solves the inconsistent signup curve.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4937760"/>
            <a:ext cx="5532120" cy="132588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4937760"/>
            <a:ext cx="73152" cy="13258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102352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9090B"/>
                </a:solidFill>
                <a:latin typeface="Calibri"/>
              </a:rPr>
              <a:t>6. Sunset unused passkey UI until adoption case is proven (P2)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86400"/>
            <a:ext cx="5166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0 passkeys created across 41 users. Either remove the entry point or run</a:t>
            </a:r>
          </a:p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 dedicated activation campaign. Don't carry dead UI.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Source: production read replica · May 15,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AFAFA"/>
                </a:solidFill>
                <a:latin typeface="Calibri"/>
              </a:rPr>
              <a:t>FayaFlex  ·  Engagement &amp; App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The 90-day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71717A"/>
                </a:solidFill>
                <a:latin typeface="Calibri"/>
              </a:rPr>
              <a:t>If we ship the P0 trio, here's what the next engagement deck should look like.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1247120" cy="5486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121408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FAFA"/>
                </a:solidFill>
                <a:latin typeface="Calibri"/>
              </a:rPr>
              <a:t>Targets for August 2026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2697480" cy="141732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0779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1717A"/>
                </a:solidFill>
                <a:latin typeface="Calibri"/>
              </a:rPr>
              <a:t>MAU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16  →  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Forced teaming + referral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743200"/>
            <a:ext cx="2697480" cy="141732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74320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290779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1717A"/>
                </a:solidFill>
                <a:latin typeface="Calibri"/>
              </a:rPr>
              <a:t>DAU/MAU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4612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19%  →  28%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886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Re-engagement push + Team Stakes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2743200"/>
            <a:ext cx="2697480" cy="141732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74320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90779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1717A"/>
                </a:solidFill>
                <a:latin typeface="Calibri"/>
              </a:rPr>
              <a:t>Reactions / 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0  →  3+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886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Default to team feed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2743200"/>
            <a:ext cx="2697480" cy="1417320"/>
          </a:xfrm>
          <a:prstGeom prst="rect">
            <a:avLst/>
          </a:prstGeom>
          <a:solidFill>
            <a:srgbClr val="FAFAFA"/>
          </a:solidFill>
          <a:ln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61120" y="2743200"/>
            <a:ext cx="2697480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0" y="2907792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71717A"/>
                </a:solidFill>
                <a:latin typeface="Calibri"/>
              </a:rPr>
              <a:t>Month-2 retention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3246120"/>
            <a:ext cx="2423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09090B"/>
                </a:solidFill>
                <a:latin typeface="Calibri"/>
              </a:rPr>
              <a:t>29%  →  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38862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Onboard into a team, not solo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572000"/>
            <a:ext cx="11247120" cy="1737360"/>
          </a:xfrm>
          <a:prstGeom prst="rect">
            <a:avLst/>
          </a:prstGeom>
          <a:solidFill>
            <a:srgbClr val="ECFD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709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Calibri"/>
              </a:rPr>
              <a:t>Bottom 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074920"/>
            <a:ext cx="1069848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09090B"/>
                </a:solidFill>
                <a:latin typeface="Calibri"/>
              </a:rPr>
              <a:t>FayaFlex has product-market fit for the right user. The job for the next quarter is</a:t>
            </a:r>
          </a:p>
          <a:p>
            <a:pPr algn="l"/>
            <a:r>
              <a:rPr sz="1300" b="0">
                <a:solidFill>
                  <a:srgbClr val="09090B"/>
                </a:solidFill>
                <a:latin typeface="Calibri"/>
              </a:rPr>
              <a:t>not building more features — it's funneling every new signup into the team-based</a:t>
            </a:r>
          </a:p>
          <a:p>
            <a:pPr algn="l"/>
            <a:r>
              <a:rPr sz="1300" b="0">
                <a:solidFill>
                  <a:srgbClr val="09090B"/>
                </a:solidFill>
                <a:latin typeface="Calibri"/>
              </a:rPr>
              <a:t>loop that already retains them, and giving teams more reasons to talk to each other</a:t>
            </a:r>
          </a:p>
          <a:p>
            <a:pPr algn="l"/>
            <a:r>
              <a:rPr sz="1300" b="0">
                <a:solidFill>
                  <a:srgbClr val="09090B"/>
                </a:solidFill>
                <a:latin typeface="Calibri"/>
              </a:rPr>
              <a:t>(reactions visible, stakes to win, streaks to defend).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Source: production read replica · May 15,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0">
                <a:solidFill>
                  <a:srgbClr val="71717A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